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1"/>
  </p:sldMasterIdLst>
  <p:notesMasterIdLst>
    <p:notesMasterId r:id="rId6"/>
  </p:notesMasterIdLst>
  <p:sldIdLst>
    <p:sldId id="256" r:id="rId2"/>
    <p:sldId id="259" r:id="rId3"/>
    <p:sldId id="260" r:id="rId4"/>
    <p:sldId id="258"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818"/>
    <p:restoredTop sz="87007"/>
  </p:normalViewPr>
  <p:slideViewPr>
    <p:cSldViewPr snapToGrid="0">
      <p:cViewPr varScale="1">
        <p:scale>
          <a:sx n="110" d="100"/>
          <a:sy n="110" d="100"/>
        </p:scale>
        <p:origin x="77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F1E511-0B8D-1549-B688-4626AB1D201D}" type="datetimeFigureOut">
              <a:rPr lang="en-US" smtClean="0"/>
              <a:t>10/31/25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AFCBF-7B11-D144-8F3F-4612E5F9B34E}" type="slidenum">
              <a:rPr lang="en-US" smtClean="0"/>
              <a:t>‹#›</a:t>
            </a:fld>
            <a:endParaRPr lang="en-US"/>
          </a:p>
        </p:txBody>
      </p:sp>
    </p:spTree>
    <p:extLst>
      <p:ext uri="{BB962C8B-B14F-4D97-AF65-F5344CB8AC3E}">
        <p14:creationId xmlns:p14="http://schemas.microsoft.com/office/powerpoint/2010/main" val="1970194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1" kern="1200" dirty="0">
                <a:solidFill>
                  <a:schemeClr val="tx1"/>
                </a:solidFill>
                <a:effectLst/>
                <a:latin typeface="+mn-lt"/>
                <a:ea typeface="+mn-ea"/>
                <a:cs typeface="+mn-cs"/>
              </a:rPr>
              <a:t>Current sports analytics miss the collective dynamics of how teams move together. Topology gives us a new lens—treating each moment as 22 points in 2D space and asking about shape and structure. Our innovation is analysing how these topological features evolve over time, creating a dynamical system on persistence diagrams.</a:t>
            </a: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ABAFCBF-7B11-D144-8F3F-4612E5F9B34E}" type="slidenum">
              <a:rPr lang="en-US" smtClean="0"/>
              <a:t>2</a:t>
            </a:fld>
            <a:endParaRPr lang="en-US"/>
          </a:p>
        </p:txBody>
      </p:sp>
    </p:spTree>
    <p:extLst>
      <p:ext uri="{BB962C8B-B14F-4D97-AF65-F5344CB8AC3E}">
        <p14:creationId xmlns:p14="http://schemas.microsoft.com/office/powerpoint/2010/main" val="19519227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1" kern="1200" dirty="0">
                <a:solidFill>
                  <a:schemeClr val="tx1"/>
                </a:solidFill>
                <a:effectLst/>
                <a:latin typeface="+mn-lt"/>
                <a:ea typeface="+mn-ea"/>
                <a:cs typeface="+mn-cs"/>
              </a:rPr>
              <a:t>We've validated our approach through three key results. First, we resolved critical technical challenges through GPS-aware clustering. Second, we've identified three distinct tactical states with characteristic lifetimes. Most importantly, we're seeing strong correlations—persistent holes in defences correlate with successful attacks, proving topology captures something real about tactical effectiveness.</a:t>
            </a:r>
            <a:endParaRPr lang="en-GB"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9ABAFCBF-7B11-D144-8F3F-4612E5F9B34E}" type="slidenum">
              <a:rPr lang="en-US" smtClean="0"/>
              <a:t>3</a:t>
            </a:fld>
            <a:endParaRPr lang="en-US"/>
          </a:p>
        </p:txBody>
      </p:sp>
    </p:spTree>
    <p:extLst>
      <p:ext uri="{BB962C8B-B14F-4D97-AF65-F5344CB8AC3E}">
        <p14:creationId xmlns:p14="http://schemas.microsoft.com/office/powerpoint/2010/main" val="688726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10/31/25</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451760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10/31/25</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8619453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10/31/25</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756912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10/31/25</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333202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10/31/25</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55041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10/31/25</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38955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10/31/25</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357140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10/31/25</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668732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10/31/25</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705032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10/31/25</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05678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10/31/25</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36915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10/31/25</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2305965587"/>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11" r:id="rId9"/>
    <p:sldLayoutId id="2147483709" r:id="rId10"/>
    <p:sldLayoutId id="2147483710"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644DE9-8D09-43E2-BA69-F57482CFC9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6C23C919-B32E-40FF-B3D8-631316E84E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61B17B84-F8A7-4053-9C9D-91E3CA7FF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88951" cy="6858000"/>
          </a:xfrm>
          <a:prstGeom prst="rect">
            <a:avLst/>
          </a:prstGeom>
          <a:blipFill dpi="0" rotWithShape="1">
            <a:blip r:embed="rId2">
              <a:alphaModFix amt="30000"/>
              <a:lum bright="70000" contrast="-70000"/>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Triangular abstract background">
            <a:extLst>
              <a:ext uri="{FF2B5EF4-FFF2-40B4-BE49-F238E27FC236}">
                <a16:creationId xmlns:a16="http://schemas.microsoft.com/office/drawing/2014/main" id="{C7BD0A1E-CA54-EA86-61EC-F48FCAA3DEDB}"/>
              </a:ext>
            </a:extLst>
          </p:cNvPr>
          <p:cNvPicPr>
            <a:picLocks noChangeAspect="1"/>
          </p:cNvPicPr>
          <p:nvPr/>
        </p:nvPicPr>
        <p:blipFill>
          <a:blip r:embed="rId3">
            <a:alphaModFix amt="70000"/>
          </a:blip>
          <a:srcRect t="15726" r="-1" b="-1"/>
          <a:stretch>
            <a:fillRect/>
          </a:stretch>
        </p:blipFill>
        <p:spPr>
          <a:xfrm>
            <a:off x="20" y="10"/>
            <a:ext cx="12188932" cy="6856614"/>
          </a:xfrm>
          <a:prstGeom prst="rect">
            <a:avLst/>
          </a:prstGeom>
        </p:spPr>
      </p:pic>
      <p:sp>
        <p:nvSpPr>
          <p:cNvPr id="2" name="Title 1">
            <a:extLst>
              <a:ext uri="{FF2B5EF4-FFF2-40B4-BE49-F238E27FC236}">
                <a16:creationId xmlns:a16="http://schemas.microsoft.com/office/drawing/2014/main" id="{3FC8D66B-3D38-CEF7-879F-5FEC867D1176}"/>
              </a:ext>
            </a:extLst>
          </p:cNvPr>
          <p:cNvSpPr>
            <a:spLocks noGrp="1"/>
          </p:cNvSpPr>
          <p:nvPr>
            <p:ph type="ctrTitle"/>
          </p:nvPr>
        </p:nvSpPr>
        <p:spPr>
          <a:xfrm>
            <a:off x="2096318" y="1429528"/>
            <a:ext cx="7996311" cy="3163864"/>
          </a:xfrm>
        </p:spPr>
        <p:txBody>
          <a:bodyPr>
            <a:noAutofit/>
          </a:bodyPr>
          <a:lstStyle/>
          <a:p>
            <a:br>
              <a:rPr lang="en-GB" sz="1800" b="0" dirty="0"/>
            </a:br>
            <a:br>
              <a:rPr lang="en-GB" sz="1800" b="0" dirty="0"/>
            </a:br>
            <a:br>
              <a:rPr lang="en-GB" sz="1800" b="0" dirty="0"/>
            </a:br>
            <a:br>
              <a:rPr lang="en-GB" sz="1800" b="0" dirty="0"/>
            </a:br>
            <a:r>
              <a:rPr lang="en-GB" sz="2800" b="0" dirty="0"/>
              <a:t>Can Topology Infer Dynamic Team Behaviour</a:t>
            </a:r>
            <a:br>
              <a:rPr lang="en-GB" sz="1800" b="0" dirty="0"/>
            </a:br>
            <a:br>
              <a:rPr lang="en-GB" sz="1800" b="0" dirty="0"/>
            </a:br>
            <a:br>
              <a:rPr lang="en-GB" sz="1800" b="0" dirty="0"/>
            </a:br>
            <a:r>
              <a:rPr lang="en-GB" sz="1800" b="0" dirty="0"/>
              <a:t>Understanding how football teams move as collective units</a:t>
            </a:r>
            <a:br>
              <a:rPr lang="en-GB" sz="1800" b="0" dirty="0"/>
            </a:br>
            <a:br>
              <a:rPr lang="en-GB" sz="1800" b="0" dirty="0"/>
            </a:br>
            <a:br>
              <a:rPr lang="en-GB" sz="1800" b="0" dirty="0"/>
            </a:br>
            <a:endParaRPr lang="en-US" sz="2400" dirty="0">
              <a:solidFill>
                <a:srgbClr val="FFFFFF"/>
              </a:solidFill>
            </a:endParaRPr>
          </a:p>
        </p:txBody>
      </p:sp>
    </p:spTree>
    <p:extLst>
      <p:ext uri="{BB962C8B-B14F-4D97-AF65-F5344CB8AC3E}">
        <p14:creationId xmlns:p14="http://schemas.microsoft.com/office/powerpoint/2010/main" val="2725886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B80F4E-026B-0517-0190-A3F88A3FB7E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80A9865-7996-DE02-3E03-95749AEB3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D63F4FBE-F76E-CBF7-31B3-BC299CF86C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EC1B9B94-E322-D035-310B-05640C7F0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88951" cy="6858000"/>
          </a:xfrm>
          <a:prstGeom prst="rect">
            <a:avLst/>
          </a:prstGeom>
          <a:blipFill dpi="0" rotWithShape="1">
            <a:blip r:embed="rId3">
              <a:alphaModFix amt="30000"/>
              <a:lum bright="70000" contrast="-70000"/>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Triangular abstract background">
            <a:extLst>
              <a:ext uri="{FF2B5EF4-FFF2-40B4-BE49-F238E27FC236}">
                <a16:creationId xmlns:a16="http://schemas.microsoft.com/office/drawing/2014/main" id="{D25F5F69-C908-42D4-EFD9-2ED0C68E9843}"/>
              </a:ext>
            </a:extLst>
          </p:cNvPr>
          <p:cNvPicPr>
            <a:picLocks noChangeAspect="1"/>
          </p:cNvPicPr>
          <p:nvPr/>
        </p:nvPicPr>
        <p:blipFill>
          <a:blip r:embed="rId4">
            <a:alphaModFix amt="70000"/>
          </a:blip>
          <a:srcRect t="15726" r="-1" b="-1"/>
          <a:stretch>
            <a:fillRect/>
          </a:stretch>
        </p:blipFill>
        <p:spPr>
          <a:xfrm>
            <a:off x="-3049" y="1386"/>
            <a:ext cx="12188932" cy="6856614"/>
          </a:xfrm>
          <a:prstGeom prst="rect">
            <a:avLst/>
          </a:prstGeom>
        </p:spPr>
      </p:pic>
      <p:sp>
        <p:nvSpPr>
          <p:cNvPr id="2" name="Title 1">
            <a:extLst>
              <a:ext uri="{FF2B5EF4-FFF2-40B4-BE49-F238E27FC236}">
                <a16:creationId xmlns:a16="http://schemas.microsoft.com/office/drawing/2014/main" id="{DC29C60F-5397-B457-E60F-3684C375AB60}"/>
              </a:ext>
            </a:extLst>
          </p:cNvPr>
          <p:cNvSpPr>
            <a:spLocks noGrp="1"/>
          </p:cNvSpPr>
          <p:nvPr>
            <p:ph type="ctrTitle"/>
          </p:nvPr>
        </p:nvSpPr>
        <p:spPr>
          <a:xfrm>
            <a:off x="697523" y="1488558"/>
            <a:ext cx="4971757" cy="4989904"/>
          </a:xfrm>
        </p:spPr>
        <p:txBody>
          <a:bodyPr anchor="t">
            <a:noAutofit/>
          </a:bodyPr>
          <a:lstStyle/>
          <a:p>
            <a:pPr algn="l"/>
            <a:r>
              <a:rPr lang="en-GB" sz="1800" b="0" dirty="0"/>
              <a:t>The Problem</a:t>
            </a:r>
            <a:br>
              <a:rPr lang="en-GB" sz="1800" b="0" dirty="0"/>
            </a:br>
            <a:br>
              <a:rPr lang="en-GB" sz="1800" b="0" dirty="0"/>
            </a:br>
            <a:r>
              <a:rPr lang="en-GB" sz="1800" b="0" dirty="0"/>
              <a:t>Current Limitations:</a:t>
            </a:r>
            <a:br>
              <a:rPr lang="en-GB" sz="1800" b="0" dirty="0"/>
            </a:br>
            <a:r>
              <a:rPr lang="en-GB" sz="1800" b="0" dirty="0"/>
              <a:t>- Individual player metrics only</a:t>
            </a:r>
            <a:br>
              <a:rPr lang="en-GB" sz="1800" b="0" dirty="0"/>
            </a:br>
            <a:r>
              <a:rPr lang="en-GB" sz="1800" b="0" dirty="0"/>
              <a:t>- Simple geometric measures</a:t>
            </a:r>
            <a:br>
              <a:rPr lang="en-GB" sz="1800" b="0" dirty="0"/>
            </a:br>
            <a:r>
              <a:rPr lang="en-GB" sz="1800" b="0" dirty="0"/>
              <a:t>- Network analysis misses spatial structure</a:t>
            </a:r>
            <a:br>
              <a:rPr lang="en-GB" sz="1800" b="0" dirty="0"/>
            </a:br>
            <a:r>
              <a:rPr lang="en-GB" sz="1800" b="0" dirty="0"/>
              <a:t>- Collective dynamics and tactical structure</a:t>
            </a:r>
            <a:br>
              <a:rPr lang="en-GB" sz="1800" b="0" dirty="0"/>
            </a:br>
            <a:br>
              <a:rPr lang="en-GB" sz="1800" b="0" dirty="0"/>
            </a:br>
            <a:br>
              <a:rPr lang="en-GB" sz="1800" b="0" dirty="0"/>
            </a:br>
            <a:r>
              <a:rPr lang="en-GB" sz="1800" b="0" dirty="0"/>
              <a:t>What We're Missing:</a:t>
            </a:r>
            <a:br>
              <a:rPr lang="en-GB" sz="1800" b="0" dirty="0"/>
            </a:br>
            <a:r>
              <a:rPr lang="en-GB" sz="1800" b="0" dirty="0"/>
              <a:t>- How do teams form tactical structures?</a:t>
            </a:r>
            <a:br>
              <a:rPr lang="en-GB" sz="1800" b="0" dirty="0"/>
            </a:br>
            <a:r>
              <a:rPr lang="en-GB" sz="1800" b="0" dirty="0"/>
              <a:t>- How stable are the structures</a:t>
            </a:r>
            <a:br>
              <a:rPr lang="en-GB" sz="1800" b="0" dirty="0"/>
            </a:br>
            <a:r>
              <a:rPr lang="en-GB" sz="1800" b="0" dirty="0"/>
              <a:t>- When do they transition between states?</a:t>
            </a:r>
            <a:br>
              <a:rPr lang="en-GB" sz="1800" b="0" dirty="0"/>
            </a:br>
            <a:r>
              <a:rPr lang="en-GB" sz="1800" b="0" dirty="0"/>
              <a:t>- Can we identify exploitable gaps?</a:t>
            </a:r>
            <a:endParaRPr lang="en-US" sz="2400" dirty="0">
              <a:solidFill>
                <a:srgbClr val="FFFFFF"/>
              </a:solidFill>
            </a:endParaRPr>
          </a:p>
        </p:txBody>
      </p:sp>
      <p:sp>
        <p:nvSpPr>
          <p:cNvPr id="5" name="TextBox 4">
            <a:extLst>
              <a:ext uri="{FF2B5EF4-FFF2-40B4-BE49-F238E27FC236}">
                <a16:creationId xmlns:a16="http://schemas.microsoft.com/office/drawing/2014/main" id="{3CB87D1B-077D-6B76-F43C-8EDB4E30D056}"/>
              </a:ext>
            </a:extLst>
          </p:cNvPr>
          <p:cNvSpPr txBox="1"/>
          <p:nvPr/>
        </p:nvSpPr>
        <p:spPr>
          <a:xfrm>
            <a:off x="697523" y="379538"/>
            <a:ext cx="6262576" cy="461665"/>
          </a:xfrm>
          <a:prstGeom prst="rect">
            <a:avLst/>
          </a:prstGeom>
          <a:noFill/>
        </p:spPr>
        <p:txBody>
          <a:bodyPr wrap="square">
            <a:spAutoFit/>
          </a:bodyPr>
          <a:lstStyle/>
          <a:p>
            <a:r>
              <a:rPr lang="en-GB" sz="2400" b="0" dirty="0">
                <a:solidFill>
                  <a:schemeClr val="bg1"/>
                </a:solidFill>
              </a:rPr>
              <a:t>Problem &amp; Approach</a:t>
            </a:r>
            <a:endParaRPr lang="en-US" sz="2400" dirty="0">
              <a:solidFill>
                <a:schemeClr val="bg1"/>
              </a:solidFill>
            </a:endParaRPr>
          </a:p>
        </p:txBody>
      </p:sp>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id="{79FF027D-06F0-CD1D-DDAB-DBE993327755}"/>
                  </a:ext>
                </a:extLst>
              </p:cNvPr>
              <p:cNvSpPr txBox="1">
                <a:spLocks/>
              </p:cNvSpPr>
              <p:nvPr/>
            </p:nvSpPr>
            <p:spPr>
              <a:xfrm>
                <a:off x="5669280" y="1488558"/>
                <a:ext cx="5825197" cy="4989904"/>
              </a:xfrm>
              <a:prstGeom prst="rect">
                <a:avLst/>
              </a:prstGeom>
            </p:spPr>
            <p:txBody>
              <a:bodyPr vert="horz" lIns="91440" tIns="45720" rIns="91440" bIns="45720" rtlCol="0" anchor="t">
                <a:noAutofit/>
              </a:bodyPr>
              <a:lstStyle>
                <a:lvl1pPr algn="ctr" defTabSz="914400" rtl="0" eaLnBrk="1" latinLnBrk="0" hangingPunct="1">
                  <a:lnSpc>
                    <a:spcPct val="100000"/>
                  </a:lnSpc>
                  <a:spcBef>
                    <a:spcPct val="0"/>
                  </a:spcBef>
                  <a:buNone/>
                  <a:defRPr sz="4400" b="1" kern="1200">
                    <a:solidFill>
                      <a:schemeClr val="bg1"/>
                    </a:solidFill>
                    <a:latin typeface="+mj-lt"/>
                    <a:ea typeface="+mj-ea"/>
                    <a:cs typeface="+mj-cs"/>
                  </a:defRPr>
                </a:lvl1pPr>
              </a:lstStyle>
              <a:p>
                <a:pPr algn="l"/>
                <a:r>
                  <a:rPr lang="en-GB" sz="1800" b="0" dirty="0"/>
                  <a:t>Our Solution</a:t>
                </a:r>
              </a:p>
              <a:p>
                <a:pPr algn="l"/>
                <a:endParaRPr lang="en-GB" sz="1800" b="0" dirty="0"/>
              </a:p>
              <a:p>
                <a:pPr algn="l"/>
                <a:r>
                  <a:rPr lang="en-GB" sz="1800" b="0" dirty="0"/>
                  <a:t>Use topology to characterise a 22-body dynamical system</a:t>
                </a:r>
              </a:p>
              <a:p>
                <a:pPr algn="l"/>
                <a:endParaRPr lang="en-GB" sz="1800" b="0" dirty="0"/>
              </a:p>
              <a:p>
                <a:pPr algn="l"/>
                <a:r>
                  <a:rPr lang="en-GB" sz="1800" b="0" dirty="0"/>
                  <a:t>Connected components</a:t>
                </a:r>
              </a:p>
              <a:p>
                <a:pPr algn="l"/>
                <a:r>
                  <a:rPr lang="en-GB" sz="1800" b="0" dirty="0"/>
                  <a:t>- player groups</a:t>
                </a:r>
              </a:p>
              <a:p>
                <a:pPr algn="l"/>
                <a:r>
                  <a:rPr lang="en-GB" sz="1800" b="0" dirty="0"/>
                  <a:t>- defensive structures</a:t>
                </a:r>
              </a:p>
              <a:p>
                <a:pPr algn="l"/>
                <a:r>
                  <a:rPr lang="en-GB" sz="1800" b="0" dirty="0"/>
                  <a:t>- Persistence:  Stable vs. transient structures</a:t>
                </a:r>
              </a:p>
              <a:p>
                <a:pPr algn="l"/>
                <a:endParaRPr lang="en-GB" sz="1800" b="0" dirty="0"/>
              </a:p>
              <a:p>
                <a:pPr algn="l"/>
                <a:r>
                  <a:rPr lang="en-GB" sz="1800" b="0" dirty="0"/>
                  <a:t>Mathematical Framework:</a:t>
                </a:r>
              </a:p>
              <a:p>
                <a:pPr algn="l"/>
                <a:r>
                  <a:rPr lang="en-GB" sz="1800" b="0" dirty="0"/>
                  <a:t>- Point cloud: </a:t>
                </a:r>
                <a14:m>
                  <m:oMath xmlns:m="http://schemas.openxmlformats.org/officeDocument/2006/math">
                    <m:sSub>
                      <m:sSubPr>
                        <m:ctrlPr>
                          <a:rPr lang="en-GB" sz="1800" b="0" i="1" dirty="0" smtClean="0">
                            <a:latin typeface="Cambria Math" panose="02040503050406030204" pitchFamily="18" charset="0"/>
                          </a:rPr>
                        </m:ctrlPr>
                      </m:sSubPr>
                      <m:e>
                        <m:r>
                          <a:rPr lang="en-GB" sz="1800" b="0" i="1" dirty="0" smtClean="0">
                            <a:latin typeface="Cambria Math" panose="02040503050406030204" pitchFamily="18" charset="0"/>
                          </a:rPr>
                          <m:t>𝑋</m:t>
                        </m:r>
                      </m:e>
                      <m:sub>
                        <m:r>
                          <a:rPr lang="en-GB" sz="1800" b="0" i="1" dirty="0" smtClean="0">
                            <a:latin typeface="Cambria Math" panose="02040503050406030204" pitchFamily="18" charset="0"/>
                          </a:rPr>
                          <m:t>𝑡</m:t>
                        </m:r>
                      </m:sub>
                    </m:sSub>
                    <m:r>
                      <a:rPr lang="en-GB" sz="1800" b="0" i="1" dirty="0" smtClean="0">
                        <a:latin typeface="Cambria Math" panose="02040503050406030204" pitchFamily="18" charset="0"/>
                      </a:rPr>
                      <m:t> = {</m:t>
                    </m:r>
                    <m:r>
                      <a:rPr lang="en-GB" sz="1800" b="0" i="1" dirty="0" smtClean="0">
                        <a:latin typeface="Cambria Math" panose="02040503050406030204" pitchFamily="18" charset="0"/>
                      </a:rPr>
                      <m:t>𝑥</m:t>
                    </m:r>
                    <m:r>
                      <a:rPr lang="en-GB" sz="1800" b="0" i="1" dirty="0" smtClean="0">
                        <a:latin typeface="Cambria Math" panose="02040503050406030204" pitchFamily="18" charset="0"/>
                      </a:rPr>
                      <m:t>₁(</m:t>
                    </m:r>
                    <m:r>
                      <a:rPr lang="en-GB" sz="1800" b="0" i="1" dirty="0" smtClean="0">
                        <a:latin typeface="Cambria Math" panose="02040503050406030204" pitchFamily="18" charset="0"/>
                      </a:rPr>
                      <m:t>𝑡</m:t>
                    </m:r>
                    <m:r>
                      <a:rPr lang="en-GB" sz="1800" b="0" i="1" dirty="0" smtClean="0">
                        <a:latin typeface="Cambria Math" panose="02040503050406030204" pitchFamily="18" charset="0"/>
                      </a:rPr>
                      <m:t>),…,</m:t>
                    </m:r>
                    <m:r>
                      <a:rPr lang="en-GB" sz="1800" b="0" i="1" dirty="0" smtClean="0">
                        <a:latin typeface="Cambria Math" panose="02040503050406030204" pitchFamily="18" charset="0"/>
                      </a:rPr>
                      <m:t>𝑥</m:t>
                    </m:r>
                    <m:r>
                      <a:rPr lang="en-GB" sz="1800" b="0" i="1" dirty="0" smtClean="0">
                        <a:latin typeface="Cambria Math" panose="02040503050406030204" pitchFamily="18" charset="0"/>
                      </a:rPr>
                      <m:t>₂₂(</m:t>
                    </m:r>
                    <m:r>
                      <a:rPr lang="en-GB" sz="1800" b="0" i="1" dirty="0" smtClean="0">
                        <a:latin typeface="Cambria Math" panose="02040503050406030204" pitchFamily="18" charset="0"/>
                      </a:rPr>
                      <m:t>𝑡</m:t>
                    </m:r>
                    <m:r>
                      <a:rPr lang="en-GB" sz="1800" b="0" i="1" dirty="0" smtClean="0">
                        <a:latin typeface="Cambria Math" panose="02040503050406030204" pitchFamily="18" charset="0"/>
                      </a:rPr>
                      <m:t>)} ⊂ </m:t>
                    </m:r>
                    <m:r>
                      <a:rPr lang="en-GB" sz="1800" b="0" i="1" dirty="0" smtClean="0">
                        <a:latin typeface="Cambria Math" panose="02040503050406030204" pitchFamily="18" charset="0"/>
                      </a:rPr>
                      <m:t>ℝ</m:t>
                    </m:r>
                    <m:r>
                      <a:rPr lang="en-GB" sz="1800" b="0" i="1" dirty="0" smtClean="0">
                        <a:latin typeface="Cambria Math" panose="02040503050406030204" pitchFamily="18" charset="0"/>
                      </a:rPr>
                      <m:t>²</m:t>
                    </m:r>
                  </m:oMath>
                </a14:m>
                <a:endParaRPr lang="en-GB" sz="1800" b="0" dirty="0"/>
              </a:p>
              <a:p>
                <a:pPr algn="l"/>
                <a:r>
                  <a:rPr lang="en-GB" sz="1800" b="0" dirty="0"/>
                  <a:t>- Evolution operator: </a:t>
                </a:r>
                <a14:m>
                  <m:oMath xmlns:m="http://schemas.openxmlformats.org/officeDocument/2006/math">
                    <m:r>
                      <m:rPr>
                        <m:sty m:val="p"/>
                      </m:rPr>
                      <a:rPr lang="el-GR" sz="1800" b="0" i="0" dirty="0" smtClean="0">
                        <a:latin typeface="Cambria Math" panose="02040503050406030204" pitchFamily="18" charset="0"/>
                      </a:rPr>
                      <m:t>Φ</m:t>
                    </m:r>
                    <m:r>
                      <a:rPr lang="el-GR" sz="1800" b="0" i="1" dirty="0" err="1" smtClean="0">
                        <a:latin typeface="Cambria Math" panose="02040503050406030204" pitchFamily="18" charset="0"/>
                      </a:rPr>
                      <m:t>_</m:t>
                    </m:r>
                    <m:r>
                      <a:rPr lang="el-GR" sz="1800" b="0" i="1" dirty="0" err="1" smtClean="0">
                        <a:latin typeface="Cambria Math" panose="02040503050406030204" pitchFamily="18" charset="0"/>
                      </a:rPr>
                      <m:t>𝜏</m:t>
                    </m:r>
                    <m:r>
                      <a:rPr lang="el-GR" sz="1800" b="0" i="1" dirty="0" smtClean="0">
                        <a:latin typeface="Cambria Math" panose="02040503050406030204" pitchFamily="18" charset="0"/>
                      </a:rPr>
                      <m:t>: </m:t>
                    </m:r>
                    <m:r>
                      <a:rPr lang="en-GB" sz="1800" b="0" i="1" dirty="0" err="1" smtClean="0">
                        <a:latin typeface="Cambria Math" panose="02040503050406030204" pitchFamily="18" charset="0"/>
                      </a:rPr>
                      <m:t>𝐷</m:t>
                    </m:r>
                    <m:r>
                      <a:rPr lang="en-GB" sz="1800" b="0" i="1" dirty="0" err="1" smtClean="0">
                        <a:latin typeface="Cambria Math" panose="02040503050406030204" pitchFamily="18" charset="0"/>
                      </a:rPr>
                      <m:t>_</m:t>
                    </m:r>
                    <m:r>
                      <a:rPr lang="en-GB" sz="1800" b="0" i="1" dirty="0" err="1" smtClean="0">
                        <a:latin typeface="Cambria Math" panose="02040503050406030204" pitchFamily="18" charset="0"/>
                      </a:rPr>
                      <m:t>𝑘</m:t>
                    </m:r>
                    <m:r>
                      <a:rPr lang="en-GB" sz="1800" b="0" i="1" dirty="0" smtClean="0">
                        <a:latin typeface="Cambria Math" panose="02040503050406030204" pitchFamily="18" charset="0"/>
                      </a:rPr>
                      <m:t>(</m:t>
                    </m:r>
                    <m:r>
                      <a:rPr lang="en-GB" sz="1800" b="0" i="1" dirty="0" err="1" smtClean="0">
                        <a:latin typeface="Cambria Math" panose="02040503050406030204" pitchFamily="18" charset="0"/>
                      </a:rPr>
                      <m:t>𝑋</m:t>
                    </m:r>
                    <m:r>
                      <a:rPr lang="en-GB" sz="1800" b="0" i="1" dirty="0" err="1" smtClean="0">
                        <a:latin typeface="Cambria Math" panose="02040503050406030204" pitchFamily="18" charset="0"/>
                      </a:rPr>
                      <m:t>_</m:t>
                    </m:r>
                    <m:r>
                      <a:rPr lang="en-GB" sz="1800" b="0" i="1" dirty="0" err="1" smtClean="0">
                        <a:latin typeface="Cambria Math" panose="02040503050406030204" pitchFamily="18" charset="0"/>
                      </a:rPr>
                      <m:t>𝑡</m:t>
                    </m:r>
                    <m:r>
                      <a:rPr lang="en-GB" sz="1800" b="0" i="1" dirty="0" smtClean="0">
                        <a:latin typeface="Cambria Math" panose="02040503050406030204" pitchFamily="18" charset="0"/>
                      </a:rPr>
                      <m:t>) → </m:t>
                    </m:r>
                    <m:r>
                      <a:rPr lang="en-GB" sz="1800" b="0" i="1" dirty="0" err="1" smtClean="0">
                        <a:latin typeface="Cambria Math" panose="02040503050406030204" pitchFamily="18" charset="0"/>
                      </a:rPr>
                      <m:t>𝐷</m:t>
                    </m:r>
                    <m:r>
                      <a:rPr lang="en-GB" sz="1800" b="0" i="1" dirty="0" err="1" smtClean="0">
                        <a:latin typeface="Cambria Math" panose="02040503050406030204" pitchFamily="18" charset="0"/>
                      </a:rPr>
                      <m:t>_</m:t>
                    </m:r>
                    <m:r>
                      <a:rPr lang="en-GB" sz="1800" b="0" i="1" dirty="0" err="1" smtClean="0">
                        <a:latin typeface="Cambria Math" panose="02040503050406030204" pitchFamily="18" charset="0"/>
                      </a:rPr>
                      <m:t>𝑘</m:t>
                    </m:r>
                    <m:r>
                      <a:rPr lang="en-GB" sz="1800" b="0" i="1" dirty="0" smtClean="0">
                        <a:latin typeface="Cambria Math" panose="02040503050406030204" pitchFamily="18" charset="0"/>
                      </a:rPr>
                      <m:t>(</m:t>
                    </m:r>
                    <m:r>
                      <a:rPr lang="en-GB" sz="1800" b="0" i="1" dirty="0" smtClean="0">
                        <a:latin typeface="Cambria Math" panose="02040503050406030204" pitchFamily="18" charset="0"/>
                      </a:rPr>
                      <m:t>𝑋</m:t>
                    </m:r>
                    <m:r>
                      <a:rPr lang="en-GB" sz="1800" b="0" i="1" dirty="0" smtClean="0">
                        <a:latin typeface="Cambria Math" panose="02040503050406030204" pitchFamily="18" charset="0"/>
                      </a:rPr>
                      <m:t>_{</m:t>
                    </m:r>
                    <m:r>
                      <a:rPr lang="en-GB" sz="1800" b="0" i="1" dirty="0" smtClean="0">
                        <a:latin typeface="Cambria Math" panose="02040503050406030204" pitchFamily="18" charset="0"/>
                      </a:rPr>
                      <m:t>𝑡</m:t>
                    </m:r>
                    <m:r>
                      <a:rPr lang="en-GB" sz="1800" b="0" i="1" dirty="0" smtClean="0">
                        <a:latin typeface="Cambria Math" panose="02040503050406030204" pitchFamily="18" charset="0"/>
                      </a:rPr>
                      <m:t>+</m:t>
                    </m:r>
                    <m:r>
                      <a:rPr lang="el-GR" sz="1800" b="0" i="1" dirty="0" smtClean="0">
                        <a:latin typeface="Cambria Math" panose="02040503050406030204" pitchFamily="18" charset="0"/>
                      </a:rPr>
                      <m:t>𝜏</m:t>
                    </m:r>
                    <m:r>
                      <a:rPr lang="el-GR" sz="1800" b="0" i="1" dirty="0" smtClean="0">
                        <a:latin typeface="Cambria Math" panose="02040503050406030204" pitchFamily="18" charset="0"/>
                      </a:rPr>
                      <m:t>})</m:t>
                    </m:r>
                  </m:oMath>
                </a14:m>
                <a:endParaRPr lang="el-GR" sz="1800" b="0" dirty="0"/>
              </a:p>
              <a:p>
                <a:pPr algn="l"/>
                <a:r>
                  <a:rPr lang="el-GR" sz="1800" b="0" dirty="0"/>
                  <a:t>- </a:t>
                </a:r>
                <a:r>
                  <a:rPr lang="en-GB" sz="1800" b="0" dirty="0"/>
                  <a:t>Analyse dynamical system on persistence diagrams</a:t>
                </a:r>
                <a:endParaRPr lang="en-US" sz="2400" dirty="0">
                  <a:solidFill>
                    <a:srgbClr val="FFFFFF"/>
                  </a:solidFill>
                </a:endParaRPr>
              </a:p>
            </p:txBody>
          </p:sp>
        </mc:Choice>
        <mc:Fallback xmlns="">
          <p:sp>
            <p:nvSpPr>
              <p:cNvPr id="8" name="Title 1">
                <a:extLst>
                  <a:ext uri="{FF2B5EF4-FFF2-40B4-BE49-F238E27FC236}">
                    <a16:creationId xmlns:a16="http://schemas.microsoft.com/office/drawing/2014/main" id="{79FF027D-06F0-CD1D-DDAB-DBE993327755}"/>
                  </a:ext>
                </a:extLst>
              </p:cNvPr>
              <p:cNvSpPr txBox="1">
                <a:spLocks noRot="1" noChangeAspect="1" noMove="1" noResize="1" noEditPoints="1" noAdjustHandles="1" noChangeArrowheads="1" noChangeShapeType="1" noTextEdit="1"/>
              </p:cNvSpPr>
              <p:nvPr/>
            </p:nvSpPr>
            <p:spPr>
              <a:xfrm>
                <a:off x="5669280" y="1488558"/>
                <a:ext cx="5825197" cy="4989904"/>
              </a:xfrm>
              <a:prstGeom prst="rect">
                <a:avLst/>
              </a:prstGeom>
              <a:blipFill>
                <a:blip r:embed="rId5"/>
                <a:stretch>
                  <a:fillRect l="-870" t="-508"/>
                </a:stretch>
              </a:blipFill>
            </p:spPr>
            <p:txBody>
              <a:bodyPr/>
              <a:lstStyle/>
              <a:p>
                <a:r>
                  <a:rPr lang="en-US">
                    <a:noFill/>
                  </a:rPr>
                  <a:t> </a:t>
                </a:r>
              </a:p>
            </p:txBody>
          </p:sp>
        </mc:Fallback>
      </mc:AlternateContent>
    </p:spTree>
    <p:extLst>
      <p:ext uri="{BB962C8B-B14F-4D97-AF65-F5344CB8AC3E}">
        <p14:creationId xmlns:p14="http://schemas.microsoft.com/office/powerpoint/2010/main" val="342038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3390E3-8C74-B76C-17B1-E52B4FE5677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BCDB2C-02F7-048D-E37C-BAF864EEDB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0B205F63-377D-A8F5-1532-68AD01D1A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5CB3D5F1-E616-7E09-5B52-9760D7ACF9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88951" cy="6858000"/>
          </a:xfrm>
          <a:prstGeom prst="rect">
            <a:avLst/>
          </a:prstGeom>
          <a:blipFill dpi="0" rotWithShape="1">
            <a:blip r:embed="rId3">
              <a:alphaModFix amt="30000"/>
              <a:lum bright="70000" contrast="-70000"/>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Triangular abstract background">
            <a:extLst>
              <a:ext uri="{FF2B5EF4-FFF2-40B4-BE49-F238E27FC236}">
                <a16:creationId xmlns:a16="http://schemas.microsoft.com/office/drawing/2014/main" id="{588A4636-AF18-C60F-B5C0-C4489B8175CF}"/>
              </a:ext>
            </a:extLst>
          </p:cNvPr>
          <p:cNvPicPr>
            <a:picLocks noChangeAspect="1"/>
          </p:cNvPicPr>
          <p:nvPr/>
        </p:nvPicPr>
        <p:blipFill>
          <a:blip r:embed="rId4">
            <a:alphaModFix amt="70000"/>
          </a:blip>
          <a:srcRect t="15726" r="-1" b="-1"/>
          <a:stretch>
            <a:fillRect/>
          </a:stretch>
        </p:blipFill>
        <p:spPr>
          <a:xfrm>
            <a:off x="-3049" y="1386"/>
            <a:ext cx="12188932" cy="6856614"/>
          </a:xfrm>
          <a:prstGeom prst="rect">
            <a:avLst/>
          </a:prstGeom>
        </p:spPr>
      </p:pic>
      <p:sp>
        <p:nvSpPr>
          <p:cNvPr id="2" name="Title 1">
            <a:extLst>
              <a:ext uri="{FF2B5EF4-FFF2-40B4-BE49-F238E27FC236}">
                <a16:creationId xmlns:a16="http://schemas.microsoft.com/office/drawing/2014/main" id="{EF085A84-A75F-3A83-8587-76BB230DEB8D}"/>
              </a:ext>
            </a:extLst>
          </p:cNvPr>
          <p:cNvSpPr>
            <a:spLocks noGrp="1"/>
          </p:cNvSpPr>
          <p:nvPr>
            <p:ph type="ctrTitle"/>
          </p:nvPr>
        </p:nvSpPr>
        <p:spPr>
          <a:xfrm>
            <a:off x="697523" y="1488558"/>
            <a:ext cx="6646706" cy="4989904"/>
          </a:xfrm>
        </p:spPr>
        <p:txBody>
          <a:bodyPr anchor="t">
            <a:noAutofit/>
          </a:bodyPr>
          <a:lstStyle/>
          <a:p>
            <a:pPr algn="l"/>
            <a:r>
              <a:rPr lang="en-GB" sz="1800" b="0" dirty="0"/>
              <a:t>Result 1: GPS-Aware Clustering </a:t>
            </a:r>
            <a:br>
              <a:rPr lang="en-GB" sz="1800" b="0" dirty="0"/>
            </a:br>
            <a:r>
              <a:rPr lang="en-GB" sz="1800" b="0" dirty="0"/>
              <a:t>- Resolved point cloud size artefact</a:t>
            </a:r>
            <a:br>
              <a:rPr lang="en-GB" sz="1800" b="0" dirty="0"/>
            </a:br>
            <a:r>
              <a:rPr lang="en-GB" sz="1800" b="0" dirty="0"/>
              <a:t>- 22 → 8-12 meaningful clusters</a:t>
            </a:r>
            <a:br>
              <a:rPr lang="en-GB" sz="1800" b="0" dirty="0"/>
            </a:br>
            <a:r>
              <a:rPr lang="en-GB" sz="1800" b="0" dirty="0"/>
              <a:t>- Preserves tactical structure</a:t>
            </a:r>
            <a:br>
              <a:rPr lang="en-GB" sz="1800" b="0" dirty="0"/>
            </a:br>
            <a:br>
              <a:rPr lang="en-GB" sz="1800" b="0" dirty="0"/>
            </a:br>
            <a:r>
              <a:rPr lang="en-GB" sz="1800" b="0" dirty="0"/>
              <a:t>Result 2: Three Tactical States Identified</a:t>
            </a:r>
            <a:br>
              <a:rPr lang="en-GB" sz="1800" b="0" dirty="0"/>
            </a:br>
            <a:r>
              <a:rPr lang="en-GB" sz="1800" b="0" dirty="0"/>
              <a:t>- Defensive compression (5.2 steps mean lifetime)</a:t>
            </a:r>
            <a:br>
              <a:rPr lang="en-GB" sz="1800" b="0" dirty="0"/>
            </a:br>
            <a:r>
              <a:rPr lang="en-GB" sz="1800" b="0" dirty="0"/>
              <a:t>- Transition state (1.0 steps)</a:t>
            </a:r>
            <a:br>
              <a:rPr lang="en-GB" sz="1800" b="0" dirty="0"/>
            </a:br>
            <a:r>
              <a:rPr lang="en-GB" sz="1800" b="0" dirty="0"/>
              <a:t>- Offensive expansion (3.8 steps)</a:t>
            </a:r>
            <a:br>
              <a:rPr lang="en-GB" sz="1800" b="0" dirty="0"/>
            </a:br>
            <a:br>
              <a:rPr lang="en-GB" sz="1800" b="0" dirty="0"/>
            </a:br>
            <a:r>
              <a:rPr lang="en-GB" sz="1800" b="0" dirty="0"/>
              <a:t>Result 3: Performance Correlations</a:t>
            </a:r>
            <a:br>
              <a:rPr lang="en-GB" sz="1800" b="0" dirty="0"/>
            </a:br>
            <a:r>
              <a:rPr lang="en-GB" sz="1800" b="0" dirty="0"/>
              <a:t>- H₁ persistence → Attacking success: r = 0.68, p &lt; 0.001</a:t>
            </a:r>
            <a:br>
              <a:rPr lang="en-GB" sz="1800" b="0" dirty="0"/>
            </a:br>
            <a:r>
              <a:rPr lang="en-GB" sz="1800" b="0" dirty="0"/>
              <a:t>- H₀ count → Defensive solidity: r = -0.52, p &lt; 0.01</a:t>
            </a:r>
            <a:endParaRPr lang="en-US" sz="2400" dirty="0">
              <a:solidFill>
                <a:srgbClr val="FFFFFF"/>
              </a:solidFill>
            </a:endParaRPr>
          </a:p>
        </p:txBody>
      </p:sp>
      <p:sp>
        <p:nvSpPr>
          <p:cNvPr id="5" name="TextBox 4">
            <a:extLst>
              <a:ext uri="{FF2B5EF4-FFF2-40B4-BE49-F238E27FC236}">
                <a16:creationId xmlns:a16="http://schemas.microsoft.com/office/drawing/2014/main" id="{780F5C8D-9507-21D2-623A-79DBE25C4F18}"/>
              </a:ext>
            </a:extLst>
          </p:cNvPr>
          <p:cNvSpPr txBox="1"/>
          <p:nvPr/>
        </p:nvSpPr>
        <p:spPr>
          <a:xfrm>
            <a:off x="697523" y="379538"/>
            <a:ext cx="6262576" cy="461665"/>
          </a:xfrm>
          <a:prstGeom prst="rect">
            <a:avLst/>
          </a:prstGeom>
          <a:noFill/>
        </p:spPr>
        <p:txBody>
          <a:bodyPr wrap="square">
            <a:spAutoFit/>
          </a:bodyPr>
          <a:lstStyle/>
          <a:p>
            <a:r>
              <a:rPr lang="en-GB" sz="2400" b="0" dirty="0">
                <a:solidFill>
                  <a:schemeClr val="bg1"/>
                </a:solidFill>
              </a:rPr>
              <a:t>Results</a:t>
            </a:r>
            <a:endParaRPr lang="en-US" sz="2400" dirty="0">
              <a:solidFill>
                <a:schemeClr val="bg1"/>
              </a:solidFill>
            </a:endParaRPr>
          </a:p>
        </p:txBody>
      </p:sp>
    </p:spTree>
    <p:extLst>
      <p:ext uri="{BB962C8B-B14F-4D97-AF65-F5344CB8AC3E}">
        <p14:creationId xmlns:p14="http://schemas.microsoft.com/office/powerpoint/2010/main" val="2800083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885467-EC91-DD29-3443-89FDF47EF70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DF28D4-C529-059B-9BB2-BBDFC1CFC1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Rectangle 10">
            <a:extLst>
              <a:ext uri="{FF2B5EF4-FFF2-40B4-BE49-F238E27FC236}">
                <a16:creationId xmlns:a16="http://schemas.microsoft.com/office/drawing/2014/main" id="{E0C7D3D7-1D1D-3986-2586-FDC68943C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3" name="Rectangle 12">
            <a:extLst>
              <a:ext uri="{FF2B5EF4-FFF2-40B4-BE49-F238E27FC236}">
                <a16:creationId xmlns:a16="http://schemas.microsoft.com/office/drawing/2014/main" id="{4DD2D191-3D7B-79F0-DF6B-FC3C85FDE8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88951" cy="6858000"/>
          </a:xfrm>
          <a:prstGeom prst="rect">
            <a:avLst/>
          </a:prstGeom>
          <a:blipFill dpi="0" rotWithShape="1">
            <a:blip r:embed="rId2">
              <a:alphaModFix amt="30000"/>
              <a:lum bright="70000" contrast="-70000"/>
            </a:blip>
            <a:srcRect/>
            <a:tile tx="889000" ty="0" sx="100000" sy="100000" flip="xy" algn="t"/>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descr="Triangular abstract background">
            <a:extLst>
              <a:ext uri="{FF2B5EF4-FFF2-40B4-BE49-F238E27FC236}">
                <a16:creationId xmlns:a16="http://schemas.microsoft.com/office/drawing/2014/main" id="{AC2EC488-B19E-67EF-8852-1B1FD31C09A5}"/>
              </a:ext>
            </a:extLst>
          </p:cNvPr>
          <p:cNvPicPr>
            <a:picLocks noChangeAspect="1"/>
          </p:cNvPicPr>
          <p:nvPr/>
        </p:nvPicPr>
        <p:blipFill>
          <a:blip r:embed="rId3">
            <a:alphaModFix amt="70000"/>
          </a:blip>
          <a:srcRect t="15726" r="-1" b="-1"/>
          <a:stretch>
            <a:fillRect/>
          </a:stretch>
        </p:blipFill>
        <p:spPr>
          <a:xfrm>
            <a:off x="20" y="10"/>
            <a:ext cx="12188932" cy="6856614"/>
          </a:xfrm>
          <a:prstGeom prst="rect">
            <a:avLst/>
          </a:prstGeom>
        </p:spPr>
      </p:pic>
      <p:sp>
        <p:nvSpPr>
          <p:cNvPr id="2" name="Title 1">
            <a:extLst>
              <a:ext uri="{FF2B5EF4-FFF2-40B4-BE49-F238E27FC236}">
                <a16:creationId xmlns:a16="http://schemas.microsoft.com/office/drawing/2014/main" id="{15D7C993-2229-EE53-092B-D3570AB0B0F8}"/>
              </a:ext>
            </a:extLst>
          </p:cNvPr>
          <p:cNvSpPr>
            <a:spLocks noGrp="1"/>
          </p:cNvSpPr>
          <p:nvPr>
            <p:ph type="ctrTitle"/>
          </p:nvPr>
        </p:nvSpPr>
        <p:spPr>
          <a:xfrm>
            <a:off x="838200" y="740211"/>
            <a:ext cx="7530685" cy="3163864"/>
          </a:xfrm>
        </p:spPr>
        <p:txBody>
          <a:bodyPr>
            <a:normAutofit/>
          </a:bodyPr>
          <a:lstStyle/>
          <a:p>
            <a:pPr algn="l"/>
            <a:endParaRPr lang="en-US" sz="5200">
              <a:solidFill>
                <a:srgbClr val="FFFFFF"/>
              </a:solidFill>
            </a:endParaRPr>
          </a:p>
        </p:txBody>
      </p:sp>
      <p:sp>
        <p:nvSpPr>
          <p:cNvPr id="3" name="Subtitle 2">
            <a:extLst>
              <a:ext uri="{FF2B5EF4-FFF2-40B4-BE49-F238E27FC236}">
                <a16:creationId xmlns:a16="http://schemas.microsoft.com/office/drawing/2014/main" id="{0FC4B433-637F-C2E8-067B-99801AB6D58C}"/>
              </a:ext>
            </a:extLst>
          </p:cNvPr>
          <p:cNvSpPr>
            <a:spLocks noGrp="1"/>
          </p:cNvSpPr>
          <p:nvPr>
            <p:ph type="subTitle" idx="1"/>
          </p:nvPr>
        </p:nvSpPr>
        <p:spPr>
          <a:xfrm>
            <a:off x="838200" y="4074515"/>
            <a:ext cx="7583133" cy="1279124"/>
          </a:xfrm>
        </p:spPr>
        <p:txBody>
          <a:bodyPr>
            <a:normAutofit/>
          </a:bodyPr>
          <a:lstStyle/>
          <a:p>
            <a:pPr algn="l"/>
            <a:endParaRPr lang="en-US" sz="2200">
              <a:solidFill>
                <a:srgbClr val="FFFFFF"/>
              </a:solidFill>
            </a:endParaRPr>
          </a:p>
        </p:txBody>
      </p:sp>
    </p:spTree>
    <p:extLst>
      <p:ext uri="{BB962C8B-B14F-4D97-AF65-F5344CB8AC3E}">
        <p14:creationId xmlns:p14="http://schemas.microsoft.com/office/powerpoint/2010/main" val="2807360255"/>
      </p:ext>
    </p:extLst>
  </p:cSld>
  <p:clrMapOvr>
    <a:masterClrMapping/>
  </p:clrMapOvr>
</p:sld>
</file>

<file path=ppt/theme/theme1.xml><?xml version="1.0" encoding="utf-8"?>
<a:theme xmlns:a="http://schemas.openxmlformats.org/drawingml/2006/main" name="BlockprintVTI">
  <a:themeElements>
    <a:clrScheme name="Custom 69">
      <a:dk1>
        <a:sysClr val="windowText" lastClr="000000"/>
      </a:dk1>
      <a:lt1>
        <a:sysClr val="window" lastClr="FFFFFF"/>
      </a:lt1>
      <a:dk2>
        <a:srgbClr val="44131A"/>
      </a:dk2>
      <a:lt2>
        <a:srgbClr val="F2ECEA"/>
      </a:lt2>
      <a:accent1>
        <a:srgbClr val="A62C52"/>
      </a:accent1>
      <a:accent2>
        <a:srgbClr val="A7928D"/>
      </a:accent2>
      <a:accent3>
        <a:srgbClr val="307C71"/>
      </a:accent3>
      <a:accent4>
        <a:srgbClr val="41575D"/>
      </a:accent4>
      <a:accent5>
        <a:srgbClr val="8FA3A3"/>
      </a:accent5>
      <a:accent6>
        <a:srgbClr val="CA8370"/>
      </a:accent6>
      <a:hlink>
        <a:srgbClr val="D13D6E"/>
      </a:hlink>
      <a:folHlink>
        <a:srgbClr val="6C9D92"/>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26027</TotalTime>
  <Words>397</Words>
  <Application>Microsoft Macintosh PowerPoint</Application>
  <PresentationFormat>Widescreen</PresentationFormat>
  <Paragraphs>22</Paragraphs>
  <Slides>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Aptos</vt:lpstr>
      <vt:lpstr>Arial</vt:lpstr>
      <vt:lpstr>Avenir Next LT Pro</vt:lpstr>
      <vt:lpstr>AvenirNext LT Pro Medium</vt:lpstr>
      <vt:lpstr>Cambria Math</vt:lpstr>
      <vt:lpstr>BlockprintVTI</vt:lpstr>
      <vt:lpstr>    Can Topology Infer Dynamic Team Behaviour   Understanding how football teams move as collective units   </vt:lpstr>
      <vt:lpstr>The Problem  Current Limitations: - Individual player metrics only - Simple geometric measures - Network analysis misses spatial structure - Collective dynamics and tactical structure   What We're Missing: - How do teams form tactical structures? - How stable are the structures - When do they transition between states? - Can we identify exploitable gaps?</vt:lpstr>
      <vt:lpstr>Result 1: GPS-Aware Clustering  - Resolved point cloud size artefact - 22 → 8-12 meaningful clusters - Preserves tactical structure  Result 2: Three Tactical States Identified - Defensive compression (5.2 steps mean lifetime) - Transition state (1.0 steps) - Offensive expansion (3.8 steps)  Result 3: Performance Correlations - H₁ persistence → Attacking success: r = 0.68, p &lt; 0.001 - H₀ count → Defensive solidity: r = -0.52, p &lt; 0.01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Rowan Brown</dc:creator>
  <cp:lastModifiedBy>Rowan Brown</cp:lastModifiedBy>
  <cp:revision>2</cp:revision>
  <dcterms:created xsi:type="dcterms:W3CDTF">2025-10-31T08:25:10Z</dcterms:created>
  <dcterms:modified xsi:type="dcterms:W3CDTF">2025-11-18T15:57:13Z</dcterms:modified>
</cp:coreProperties>
</file>